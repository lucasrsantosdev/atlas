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4046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age(20261009-21422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440680"/>
            <a:ext cx="6720840" cy="1417320"/>
          </a:xfrm>
          <a:prstGeom prst="rect">
            <a:avLst/>
          </a:prstGeom>
          <a:solidFill>
            <a:srgbClr val="081D34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502920" y="5605272"/>
            <a:ext cx="585216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|  ARQUITETURA TECNOLÓGICA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02920" y="6044184"/>
            <a:ext cx="57607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modular • inteligência local • continuidade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8DFF"/>
          </a:solidFill>
          <a:ln w="12700">
            <a:solidFill>
              <a:srgbClr val="078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75488" y="301752"/>
            <a:ext cx="2377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014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é o sistema, não o modelo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10972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 de valor e direção estratégica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2DF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1208" y="6556248"/>
            <a:ext cx="45720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09.10.2026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61188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64008" cy="3154680"/>
          </a:xfrm>
          <a:prstGeom prst="roundRect">
            <a:avLst>
              <a:gd name="adj" fmla="val 200000"/>
            </a:avLst>
          </a:prstGeom>
          <a:solidFill>
            <a:srgbClr val="078DFF"/>
          </a:solidFill>
          <a:ln w="12700">
            <a:solidFill>
              <a:srgbClr val="078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58952" y="2304288"/>
            <a:ext cx="321868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CONTINUIDADE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58952" y="2862072"/>
            <a:ext cx="3218688" cy="2203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Identidade, memória, princípios e história sobrevivem à troca de modelos e infraestrutura.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2103120"/>
            <a:ext cx="361188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297680" y="2103120"/>
            <a:ext cx="64008" cy="3154680"/>
          </a:xfrm>
          <a:prstGeom prst="roundRect">
            <a:avLst>
              <a:gd name="adj" fmla="val 200000"/>
            </a:avLst>
          </a:prstGeom>
          <a:solidFill>
            <a:srgbClr val="1AA96A"/>
          </a:solidFill>
          <a:ln w="12700">
            <a:solidFill>
              <a:srgbClr val="1AA9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07992" y="2304288"/>
            <a:ext cx="321868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INDEPENDÊNCIA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07992" y="2862072"/>
            <a:ext cx="3218688" cy="2203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 prioritariamente local. Internet expande capacidades, mas não sustenta a existência do núcleo.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2103120"/>
            <a:ext cx="3611880" cy="315468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046720" y="2103120"/>
            <a:ext cx="64008" cy="3154680"/>
          </a:xfrm>
          <a:prstGeom prst="roundRect">
            <a:avLst>
              <a:gd name="adj" fmla="val 200000"/>
            </a:avLst>
          </a:prstGeom>
          <a:solidFill>
            <a:srgbClr val="FFC524"/>
          </a:solidFill>
          <a:ln w="12700">
            <a:solidFill>
              <a:srgbClr val="FFC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257032" y="2304288"/>
            <a:ext cx="321868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 HUMANA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57032" y="2862072"/>
            <a:ext cx="3218688" cy="2203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Aprender, ensinar, criar e cooperar com responsabilidade e conhecimento reproduzível.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8DFF"/>
          </a:solidFill>
          <a:ln w="12700">
            <a:solidFill>
              <a:srgbClr val="078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75488" y="301752"/>
            <a:ext cx="2377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014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já existe no código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10972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Auditoria da main: commit e6f676b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2DF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1208" y="6556248"/>
            <a:ext cx="45720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09.10.2026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58952" y="2185416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+ identidade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081D34"/>
          </a:solidFill>
          <a:ln w="12700">
            <a:solidFill>
              <a:srgbClr val="081D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07992" y="2185416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Memória persistente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92440" y="2011680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57032" y="2185416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Conhecimento RAG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2898648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081D34"/>
          </a:solidFill>
          <a:ln w="12700">
            <a:solidFill>
              <a:srgbClr val="081D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58952" y="3072384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Router + Ollama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43400" y="2898648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07992" y="3072384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Mosaic v0.1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2898648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081D34"/>
          </a:solidFill>
          <a:ln w="12700">
            <a:solidFill>
              <a:srgbClr val="081D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257032" y="3072384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+ ferramentas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3785616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58952" y="3959352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Loop v0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43400" y="3785616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081D34"/>
          </a:solidFill>
          <a:ln w="12700">
            <a:solidFill>
              <a:srgbClr val="081D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07992" y="3959352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Observabilidade v0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92440" y="3785616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257032" y="3959352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Robótica simulada v0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4360" y="5166360"/>
            <a:ext cx="11018520" cy="713232"/>
          </a:xfrm>
          <a:prstGeom prst="roundRect">
            <a:avLst>
              <a:gd name="adj" fmla="val 17949"/>
            </a:avLst>
          </a:prstGeom>
          <a:solidFill>
            <a:srgbClr val="081D34"/>
          </a:solidFill>
          <a:ln w="12700">
            <a:solidFill>
              <a:srgbClr val="081D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59536" y="5394960"/>
            <a:ext cx="104241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 arquivos Python     |     5.989 linhas     |     61 testes pytest aprovados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8DFF"/>
          </a:solidFill>
          <a:ln w="12700">
            <a:solidFill>
              <a:srgbClr val="078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75488" y="301752"/>
            <a:ext cx="2377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014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 por camadas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10972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Linha contínua = integrado no fluxo principal; futuro requer integração e testes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2DF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1208" y="6556248"/>
            <a:ext cx="45720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09.10.2026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88720" y="1856232"/>
            <a:ext cx="9784080" cy="539496"/>
          </a:xfrm>
          <a:prstGeom prst="roundRect">
            <a:avLst>
              <a:gd name="adj" fmla="val 23729"/>
            </a:avLst>
          </a:prstGeom>
          <a:solidFill>
            <a:srgbClr val="081D34"/>
          </a:solidFill>
          <a:ln w="12700">
            <a:solidFill>
              <a:srgbClr val="081D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463040" y="2002536"/>
            <a:ext cx="923544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USUÁRIO / CLI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52160" y="2404872"/>
            <a:ext cx="3657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7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88720" y="2670048"/>
            <a:ext cx="9784080" cy="539496"/>
          </a:xfrm>
          <a:prstGeom prst="roundRect">
            <a:avLst>
              <a:gd name="adj" fmla="val 23729"/>
            </a:avLst>
          </a:prstGeom>
          <a:solidFill>
            <a:srgbClr val="078DFF"/>
          </a:solidFill>
          <a:ln w="12700">
            <a:solidFill>
              <a:srgbClr val="078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463040" y="2816352"/>
            <a:ext cx="923544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CORE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52160" y="3218688"/>
            <a:ext cx="3657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7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88720" y="3483864"/>
            <a:ext cx="9784080" cy="539496"/>
          </a:xfrm>
          <a:prstGeom prst="roundRect">
            <a:avLst>
              <a:gd name="adj" fmla="val 23729"/>
            </a:avLst>
          </a:prstGeom>
          <a:solidFill>
            <a:srgbClr val="1AA96A"/>
          </a:solidFill>
          <a:ln w="12700">
            <a:solidFill>
              <a:srgbClr val="1AA9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463040" y="3630168"/>
            <a:ext cx="923544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· MEMORY · KNOWLEDGE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852160" y="4032504"/>
            <a:ext cx="3657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7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88720" y="4297680"/>
            <a:ext cx="9784080" cy="539496"/>
          </a:xfrm>
          <a:prstGeom prst="roundRect">
            <a:avLst>
              <a:gd name="adj" fmla="val 23729"/>
            </a:avLst>
          </a:prstGeom>
          <a:solidFill>
            <a:srgbClr val="081D34"/>
          </a:solidFill>
          <a:ln w="12700">
            <a:solidFill>
              <a:srgbClr val="081D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463040" y="4443984"/>
            <a:ext cx="923544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ROUTER → OLLAMA LOCAL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88720" y="5358384"/>
            <a:ext cx="9784080" cy="630936"/>
          </a:xfrm>
          <a:prstGeom prst="roundRect">
            <a:avLst>
              <a:gd name="adj" fmla="val 20290"/>
            </a:avLst>
          </a:prstGeom>
          <a:solidFill>
            <a:srgbClr val="E0F2FF"/>
          </a:solidFill>
          <a:ln w="12700">
            <a:solidFill>
              <a:srgbClr val="E0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353312" y="5568696"/>
            <a:ext cx="937260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EVOLUÇÃO: Mosaic → Agent Loop → Policy/Tools → Observability → HAL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8DFF"/>
          </a:solidFill>
          <a:ln w="12700">
            <a:solidFill>
              <a:srgbClr val="078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75488" y="301752"/>
            <a:ext cx="2377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014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Constituição e identidade persistente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10972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princípios como critérios de projeto, não como certificação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2DF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1208" y="6556248"/>
            <a:ext cx="45720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09.10.2026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3611880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64008" cy="2971800"/>
          </a:xfrm>
          <a:prstGeom prst="roundRect">
            <a:avLst>
              <a:gd name="adj" fmla="val 200000"/>
            </a:avLst>
          </a:prstGeom>
          <a:solidFill>
            <a:srgbClr val="078DFF"/>
          </a:solidFill>
          <a:ln w="12700">
            <a:solidFill>
              <a:srgbClr val="078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58952" y="2258568"/>
            <a:ext cx="321868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INDEPENDÊNCIA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58952" y="2816352"/>
            <a:ext cx="3218688" cy="20208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Substituir componentes sem perder a história do Atlas.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2057400"/>
            <a:ext cx="3611880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297680" y="2057400"/>
            <a:ext cx="64008" cy="2971800"/>
          </a:xfrm>
          <a:prstGeom prst="roundRect">
            <a:avLst>
              <a:gd name="adj" fmla="val 200000"/>
            </a:avLst>
          </a:prstGeom>
          <a:solidFill>
            <a:srgbClr val="FFC524"/>
          </a:solidFill>
          <a:ln w="12700">
            <a:solidFill>
              <a:srgbClr val="FFC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07992" y="2258568"/>
            <a:ext cx="321868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 E VIDA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07992" y="2816352"/>
            <a:ext cx="3218688" cy="20208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 proporcionais ao risco, autorização humana e proteção física.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2057400"/>
            <a:ext cx="3611880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64008" cy="2971800"/>
          </a:xfrm>
          <a:prstGeom prst="roundRect">
            <a:avLst>
              <a:gd name="adj" fmla="val 200000"/>
            </a:avLst>
          </a:prstGeom>
          <a:solidFill>
            <a:srgbClr val="1AA96A"/>
          </a:solidFill>
          <a:ln w="12700">
            <a:solidFill>
              <a:srgbClr val="1AA9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257032" y="2258568"/>
            <a:ext cx="321868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ENSINAR E CONTINUAR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57032" y="2816352"/>
            <a:ext cx="3218688" cy="20208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Auditabilidade, honestidade, educação e conhecimento intergeracional.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5605272"/>
            <a:ext cx="1051560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constitucional em rascunho, passível de evolução documentada.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8DFF"/>
          </a:solidFill>
          <a:ln w="12700">
            <a:solidFill>
              <a:srgbClr val="078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75488" y="301752"/>
            <a:ext cx="2377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014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Mosaic + Agent Loop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10972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Interpretação não equivale a autorização ou execução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2DF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1208" y="6556248"/>
            <a:ext cx="45720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09.10.2026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2139696"/>
            <a:ext cx="2807208" cy="3063240"/>
          </a:xfrm>
          <a:prstGeom prst="roundRect">
            <a:avLst>
              <a:gd name="adj" fmla="val 456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30352" y="2139696"/>
            <a:ext cx="64008" cy="3063240"/>
          </a:xfrm>
          <a:prstGeom prst="roundRect">
            <a:avLst>
              <a:gd name="adj" fmla="val 200000"/>
            </a:avLst>
          </a:prstGeom>
          <a:solidFill>
            <a:srgbClr val="078DFF"/>
          </a:solidFill>
          <a:ln w="12700">
            <a:solidFill>
              <a:srgbClr val="078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40664" y="2340864"/>
            <a:ext cx="241401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ANALISAR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40664" y="2898648"/>
            <a:ext cx="2414016" cy="21122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Mosaic classifica intenção, domínio e entidades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0" y="2139696"/>
            <a:ext cx="2807208" cy="3063240"/>
          </a:xfrm>
          <a:prstGeom prst="roundRect">
            <a:avLst>
              <a:gd name="adj" fmla="val 456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474720" y="2139696"/>
            <a:ext cx="64008" cy="3063240"/>
          </a:xfrm>
          <a:prstGeom prst="roundRect">
            <a:avLst>
              <a:gd name="adj" fmla="val 200000"/>
            </a:avLst>
          </a:prstGeom>
          <a:solidFill>
            <a:srgbClr val="FFC524"/>
          </a:solidFill>
          <a:ln w="12700">
            <a:solidFill>
              <a:srgbClr val="FFC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685032" y="2340864"/>
            <a:ext cx="241401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PLANEJAR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685032" y="2898648"/>
            <a:ext cx="2414016" cy="21122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Passos explicitamente fornecidos; limite de execuções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19088" y="2139696"/>
            <a:ext cx="2807208" cy="3063240"/>
          </a:xfrm>
          <a:prstGeom prst="roundRect">
            <a:avLst>
              <a:gd name="adj" fmla="val 456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419088" y="2139696"/>
            <a:ext cx="64008" cy="3063240"/>
          </a:xfrm>
          <a:prstGeom prst="roundRect">
            <a:avLst>
              <a:gd name="adj" fmla="val 200000"/>
            </a:avLst>
          </a:prstGeom>
          <a:solidFill>
            <a:srgbClr val="1AA96A"/>
          </a:solidFill>
          <a:ln w="12700">
            <a:solidFill>
              <a:srgbClr val="1AA9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629400" y="2340864"/>
            <a:ext cx="241401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29400" y="2898648"/>
            <a:ext cx="2414016" cy="21122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 Tool Registry verificam permissão e risco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363456" y="2139696"/>
            <a:ext cx="2807208" cy="3063240"/>
          </a:xfrm>
          <a:prstGeom prst="roundRect">
            <a:avLst>
              <a:gd name="adj" fmla="val 456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363456" y="2139696"/>
            <a:ext cx="64008" cy="3063240"/>
          </a:xfrm>
          <a:prstGeom prst="roundRect">
            <a:avLst>
              <a:gd name="adj" fmla="val 200000"/>
            </a:avLst>
          </a:prstGeom>
          <a:solidFill>
            <a:srgbClr val="078DFF"/>
          </a:solidFill>
          <a:ln w="12700">
            <a:solidFill>
              <a:srgbClr val="078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573768" y="2340864"/>
            <a:ext cx="241401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573768" y="2898648"/>
            <a:ext cx="2414016" cy="21122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AuditTrail em memória registra eventos mínimos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Ainda não há execução automática de ferramentas a partir de texto livre no chat principal.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8DFF"/>
          </a:solidFill>
          <a:ln w="12700">
            <a:solidFill>
              <a:srgbClr val="078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75488" y="301752"/>
            <a:ext cx="2377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014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 proporcional ao impacto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10972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 de decisão definidas na governança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2DF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1208" y="6556248"/>
            <a:ext cx="45720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09.10.2026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3504" y="1865376"/>
            <a:ext cx="10899648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32104" y="2020824"/>
            <a:ext cx="1920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7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NÍVEL 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88920" y="2020824"/>
            <a:ext cx="81838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3504" y="2606040"/>
            <a:ext cx="10899648" cy="594360"/>
          </a:xfrm>
          <a:prstGeom prst="roundRect">
            <a:avLst>
              <a:gd name="adj" fmla="val 21538"/>
            </a:avLst>
          </a:prstGeom>
          <a:solidFill>
            <a:srgbClr val="E9F1F8"/>
          </a:solidFill>
          <a:ln w="12700">
            <a:solidFill>
              <a:srgbClr val="E9F1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32104" y="2761488"/>
            <a:ext cx="1920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7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NÍVEL 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88920" y="2761488"/>
            <a:ext cx="81838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Baixo impacto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3504" y="3346704"/>
            <a:ext cx="10899648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2104" y="3502152"/>
            <a:ext cx="1920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7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NÍVEL 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788920" y="3502152"/>
            <a:ext cx="81838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Moderado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03504" y="4087368"/>
            <a:ext cx="10899648" cy="594360"/>
          </a:xfrm>
          <a:prstGeom prst="roundRect">
            <a:avLst>
              <a:gd name="adj" fmla="val 21538"/>
            </a:avLst>
          </a:prstGeom>
          <a:solidFill>
            <a:srgbClr val="E9F1F8"/>
          </a:solidFill>
          <a:ln w="12700">
            <a:solidFill>
              <a:srgbClr val="E9F1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32104" y="4242816"/>
            <a:ext cx="1920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7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NÍVEL 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788920" y="4242816"/>
            <a:ext cx="81838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Autorização humana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03504" y="4828032"/>
            <a:ext cx="10899648" cy="59436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32104" y="4983480"/>
            <a:ext cx="1920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7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NÍVEL 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788920" y="4983480"/>
            <a:ext cx="81838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Crítico / supervisão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1520" y="5989320"/>
            <a:ext cx="10789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código: permissões e riscos LOW / MEDIUM / HIGH / CRITICAL. Mapeamento completo ainda a implementar.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8DFF"/>
          </a:solidFill>
          <a:ln w="12700">
            <a:solidFill>
              <a:srgbClr val="078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75488" y="301752"/>
            <a:ext cx="2377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014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Memória e biblioteca local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10972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Conhecimento preservável, recuperável e independente do modelo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2DF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1208" y="6556248"/>
            <a:ext cx="45720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09.10.2026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965960"/>
            <a:ext cx="3511296" cy="332841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94360" y="1965960"/>
            <a:ext cx="64008" cy="3328416"/>
          </a:xfrm>
          <a:prstGeom prst="roundRect">
            <a:avLst>
              <a:gd name="adj" fmla="val 200000"/>
            </a:avLst>
          </a:prstGeom>
          <a:solidFill>
            <a:srgbClr val="078DFF"/>
          </a:solidFill>
          <a:ln w="12700">
            <a:solidFill>
              <a:srgbClr val="078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04672" y="2167128"/>
            <a:ext cx="31181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MEMÓRIA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4672" y="2724912"/>
            <a:ext cx="3118104" cy="2377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SessionMemory em RAM + MemoryService persistente com armazenamento JSONL.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1965960"/>
            <a:ext cx="3511296" cy="332841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343400" y="1965960"/>
            <a:ext cx="64008" cy="3328416"/>
          </a:xfrm>
          <a:prstGeom prst="roundRect">
            <a:avLst>
              <a:gd name="adj" fmla="val 200000"/>
            </a:avLst>
          </a:prstGeom>
          <a:solidFill>
            <a:srgbClr val="1AA96A"/>
          </a:solidFill>
          <a:ln w="12700">
            <a:solidFill>
              <a:srgbClr val="1AA9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53712" y="2167128"/>
            <a:ext cx="31181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CONHECIMENTO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53712" y="2724912"/>
            <a:ext cx="3118104" cy="2377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Ingestão, fragmentos, embeddings locais, índice lexical SQLite FTS5 e busca vetorial.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2440" y="1965960"/>
            <a:ext cx="3511296" cy="332841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092440" y="1965960"/>
            <a:ext cx="64008" cy="3328416"/>
          </a:xfrm>
          <a:prstGeom prst="roundRect">
            <a:avLst>
              <a:gd name="adj" fmla="val 200000"/>
            </a:avLst>
          </a:prstGeom>
          <a:solidFill>
            <a:srgbClr val="FFC524"/>
          </a:solidFill>
          <a:ln w="12700">
            <a:solidFill>
              <a:srgbClr val="FFC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302752" y="2167128"/>
            <a:ext cx="3118104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EVOLUÇÃO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02752" y="2724912"/>
            <a:ext cx="3118104" cy="2377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Backups, snapshots, hashes, restauração e portabilidade entre máquinas.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8DFF"/>
          </a:solidFill>
          <a:ln w="12700">
            <a:solidFill>
              <a:srgbClr val="078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75488" y="301752"/>
            <a:ext cx="2377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014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Offline-first: princípio e prova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10972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por desenho; ensaios desconectados ainda necessários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2DF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1208" y="6556248"/>
            <a:ext cx="45720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09.10.2026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2011680"/>
            <a:ext cx="4754880" cy="3246120"/>
          </a:xfrm>
          <a:prstGeom prst="roundRect">
            <a:avLst>
              <a:gd name="adj" fmla="val 3944"/>
            </a:avLst>
          </a:prstGeom>
          <a:solidFill>
            <a:srgbClr val="081D34"/>
          </a:solidFill>
          <a:ln w="12700">
            <a:solidFill>
              <a:srgbClr val="081D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51560" y="2368296"/>
            <a:ext cx="393192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LOCAL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" y="3081528"/>
            <a:ext cx="3840480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 •  Identidade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Memória  •  Knowledge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  •  Configuração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52160" y="2011680"/>
            <a:ext cx="539496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7220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PENDENTE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90488" y="3090672"/>
            <a:ext cx="4572000" cy="1737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Desligar a rede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Reiniciar serviços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documentos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Recuperar memória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Documentar o resultado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8DFF"/>
          </a:solidFill>
          <a:ln w="12700">
            <a:solidFill>
              <a:srgbClr val="078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75488" y="301752"/>
            <a:ext cx="2377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014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Mini — conceito de produto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10972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Identidade brasileira, aprendizagem e interação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2DF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1208" y="6556248"/>
            <a:ext cx="45720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09.10.2026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pic>
        <p:nvPicPr>
          <p:cNvPr id="9" name="Image 0" descr="/mnt/data/image(20261009-21422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56232"/>
            <a:ext cx="6400800" cy="40416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15200" y="1865376"/>
            <a:ext cx="4142232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315200" y="1865376"/>
            <a:ext cx="64008" cy="3977640"/>
          </a:xfrm>
          <a:prstGeom prst="roundRect">
            <a:avLst>
              <a:gd name="adj" fmla="val 200000"/>
            </a:avLst>
          </a:prstGeom>
          <a:solidFill>
            <a:srgbClr val="FFC524"/>
          </a:solidFill>
          <a:ln w="12700">
            <a:solidFill>
              <a:srgbClr val="FFC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525512" y="2066544"/>
            <a:ext cx="374904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CORPO PARA APRENDER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525512" y="2624328"/>
            <a:ext cx="3749040" cy="3026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imagem é um conceito visual. A v0 atual contém apenas HAL e simulador: não há hardware físico controlado ou demonstrado.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ciclo: especificação, eletrônica, limites físicos, sensores e protótipo.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8DFF"/>
          </a:solidFill>
          <a:ln w="12700">
            <a:solidFill>
              <a:srgbClr val="078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75488" y="301752"/>
            <a:ext cx="2377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014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 de expansão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10972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Corpos, interfaces e serviços: visão de longo prazo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2DF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1208" y="6556248"/>
            <a:ext cx="45720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09.10.2026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039112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58952" y="2212848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Mini / Educação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2039112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081D34"/>
          </a:solidFill>
          <a:ln w="12700">
            <a:solidFill>
              <a:srgbClr val="081D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07992" y="2212848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Casa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92440" y="2039112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57032" y="2212848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Air / Drone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2926080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081D34"/>
          </a:solidFill>
          <a:ln w="12700">
            <a:solidFill>
              <a:srgbClr val="081D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58952" y="3099816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Core wearable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43400" y="2926080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07992" y="3099816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Work / Rover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2926080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081D34"/>
          </a:solidFill>
          <a:ln w="12700">
            <a:solidFill>
              <a:srgbClr val="081D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257032" y="3099816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Garden / Climber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3813048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58952" y="3986784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Seed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43400" y="3813048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081D34"/>
          </a:solidFill>
          <a:ln w="12700">
            <a:solidFill>
              <a:srgbClr val="081D3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07992" y="3986784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Nuvem / Infra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92440" y="3813048"/>
            <a:ext cx="3593592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257032" y="3986784"/>
            <a:ext cx="327355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Biblioteca / Educação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" y="5916168"/>
            <a:ext cx="10789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Todas as frentes acima dependem de validações próprias; não são funcionalidades concluídas.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8DFF"/>
          </a:solidFill>
          <a:ln w="12700">
            <a:solidFill>
              <a:srgbClr val="078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75488" y="301752"/>
            <a:ext cx="2377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014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Continuidade e Atlas Seed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10972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Recuperar em outro hardware sem perder os elementos essenciais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2DF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1208" y="6556248"/>
            <a:ext cx="45720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09.10.2026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011680"/>
            <a:ext cx="3520440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94360" y="2011680"/>
            <a:ext cx="64008" cy="1353312"/>
          </a:xfrm>
          <a:prstGeom prst="roundRect">
            <a:avLst>
              <a:gd name="adj" fmla="val 200000"/>
            </a:avLst>
          </a:prstGeom>
          <a:solidFill>
            <a:srgbClr val="078DFF"/>
          </a:solidFill>
          <a:ln w="12700">
            <a:solidFill>
              <a:srgbClr val="078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04672" y="2212848"/>
            <a:ext cx="312724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Constituição e identidade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4672" y="2770632"/>
            <a:ext cx="312724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Peça do pacote de continuidade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2011680"/>
            <a:ext cx="3520440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343400" y="2011680"/>
            <a:ext cx="64008" cy="1353312"/>
          </a:xfrm>
          <a:prstGeom prst="roundRect">
            <a:avLst>
              <a:gd name="adj" fmla="val 200000"/>
            </a:avLst>
          </a:prstGeom>
          <a:solidFill>
            <a:srgbClr val="FFC524"/>
          </a:solidFill>
          <a:ln w="12700">
            <a:solidFill>
              <a:srgbClr val="FFC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53712" y="2212848"/>
            <a:ext cx="312724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e dependências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53712" y="2770632"/>
            <a:ext cx="312724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Peça do pacote de continuidade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2440" y="2011680"/>
            <a:ext cx="3520440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092440" y="2011680"/>
            <a:ext cx="64008" cy="1353312"/>
          </a:xfrm>
          <a:prstGeom prst="roundRect">
            <a:avLst>
              <a:gd name="adj" fmla="val 200000"/>
            </a:avLst>
          </a:prstGeom>
          <a:solidFill>
            <a:srgbClr val="FFC524"/>
          </a:solidFill>
          <a:ln w="12700">
            <a:solidFill>
              <a:srgbClr val="FFC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302752" y="2212848"/>
            <a:ext cx="312724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Memória e conhecimento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02752" y="2770632"/>
            <a:ext cx="312724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Peça do pacote de continuidade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611880"/>
            <a:ext cx="3520440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94360" y="3611880"/>
            <a:ext cx="64008" cy="1353312"/>
          </a:xfrm>
          <a:prstGeom prst="roundRect">
            <a:avLst>
              <a:gd name="adj" fmla="val 200000"/>
            </a:avLst>
          </a:prstGeom>
          <a:solidFill>
            <a:srgbClr val="FFC524"/>
          </a:solidFill>
          <a:ln w="12700">
            <a:solidFill>
              <a:srgbClr val="FFC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04672" y="3813048"/>
            <a:ext cx="312724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 e configuração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04672" y="4370832"/>
            <a:ext cx="312724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Peça do pacote de continuidade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43400" y="3611880"/>
            <a:ext cx="3520440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343400" y="3611880"/>
            <a:ext cx="64008" cy="1353312"/>
          </a:xfrm>
          <a:prstGeom prst="roundRect">
            <a:avLst>
              <a:gd name="adj" fmla="val 200000"/>
            </a:avLst>
          </a:prstGeom>
          <a:solidFill>
            <a:srgbClr val="FFC524"/>
          </a:solidFill>
          <a:ln w="12700">
            <a:solidFill>
              <a:srgbClr val="FFC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553712" y="3813048"/>
            <a:ext cx="312724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Backups e manifesto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553712" y="4370832"/>
            <a:ext cx="312724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Peça do pacote de continuidade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92440" y="3611880"/>
            <a:ext cx="3520440" cy="1353312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8092440" y="3611880"/>
            <a:ext cx="64008" cy="1353312"/>
          </a:xfrm>
          <a:prstGeom prst="roundRect">
            <a:avLst>
              <a:gd name="adj" fmla="val 200000"/>
            </a:avLst>
          </a:prstGeom>
          <a:solidFill>
            <a:srgbClr val="1AA96A"/>
          </a:solidFill>
          <a:ln w="12700">
            <a:solidFill>
              <a:srgbClr val="1AA9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302752" y="3813048"/>
            <a:ext cx="312724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Instruções de reconstrução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302752" y="4370832"/>
            <a:ext cx="3127248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Peça do pacote de continuidade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5824728"/>
            <a:ext cx="105156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de roadmap: reconstrução reproduzível e restauração verificada.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8DFF"/>
          </a:solidFill>
          <a:ln w="12700">
            <a:solidFill>
              <a:srgbClr val="078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75488" y="301752"/>
            <a:ext cx="2377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014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Validação: 61 testes aprovados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10972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positiva não equivale a cobertura total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2DF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1208" y="6556248"/>
            <a:ext cx="45720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09.10.2026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084832"/>
            <a:ext cx="5376672" cy="313639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94360" y="2084832"/>
            <a:ext cx="64008" cy="3136392"/>
          </a:xfrm>
          <a:prstGeom prst="roundRect">
            <a:avLst>
              <a:gd name="adj" fmla="val 200000"/>
            </a:avLst>
          </a:prstGeom>
          <a:solidFill>
            <a:srgbClr val="1AA96A"/>
          </a:solidFill>
          <a:ln w="12700">
            <a:solidFill>
              <a:srgbClr val="1AA9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04672" y="2286000"/>
            <a:ext cx="49834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COMPROVADO NOS REGISTROS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4672" y="2843784"/>
            <a:ext cx="4983480" cy="21854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Suíte pytest aprovada nas versões testadas. Contratos de Mosaic, ferramentas, risco e simulador com testes específicos.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2084832"/>
            <a:ext cx="5376672" cy="3136392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217920" y="2084832"/>
            <a:ext cx="64008" cy="3136392"/>
          </a:xfrm>
          <a:prstGeom prst="roundRect">
            <a:avLst>
              <a:gd name="adj" fmla="val 200000"/>
            </a:avLst>
          </a:prstGeom>
          <a:solidFill>
            <a:srgbClr val="FFC524"/>
          </a:solidFill>
          <a:ln w="12700">
            <a:solidFill>
              <a:srgbClr val="FFC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28232" y="2286000"/>
            <a:ext cx="498348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AINDA A DEMONSTRAR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28232" y="2843784"/>
            <a:ext cx="4983480" cy="21854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 CLI/Core/Mosaic/Agent, operação sem internet, restauração, auditoria persistente, robustez física e carga.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8DFF"/>
          </a:solidFill>
          <a:ln w="12700">
            <a:solidFill>
              <a:srgbClr val="078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75488" y="301752"/>
            <a:ext cx="2377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014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de implantação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10972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Fases incrementais e critérios de saída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2DF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1208" y="6556248"/>
            <a:ext cx="45720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09.10.2026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" y="1856232"/>
            <a:ext cx="521208" cy="512064"/>
          </a:xfrm>
          <a:prstGeom prst="roundRect">
            <a:avLst>
              <a:gd name="adj" fmla="val 25000"/>
            </a:avLst>
          </a:prstGeom>
          <a:solidFill>
            <a:srgbClr val="078DFF"/>
          </a:solidFill>
          <a:ln w="12700">
            <a:solidFill>
              <a:srgbClr val="078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49808" y="1956816"/>
            <a:ext cx="21945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61872" y="1856232"/>
            <a:ext cx="1024128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527048" y="1984248"/>
            <a:ext cx="9784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Consolidar Core + Mosaic + Agent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" y="2542032"/>
            <a:ext cx="521208" cy="512064"/>
          </a:xfrm>
          <a:prstGeom prst="roundRect">
            <a:avLst>
              <a:gd name="adj" fmla="val 25000"/>
            </a:avLst>
          </a:prstGeom>
          <a:solidFill>
            <a:srgbClr val="1AA96A"/>
          </a:solidFill>
          <a:ln w="12700">
            <a:solidFill>
              <a:srgbClr val="1AA9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49808" y="2642616"/>
            <a:ext cx="21945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61872" y="2542032"/>
            <a:ext cx="1024128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527048" y="2670048"/>
            <a:ext cx="9784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Política, consentimento e auditoria durável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2648" y="3227832"/>
            <a:ext cx="521208" cy="512064"/>
          </a:xfrm>
          <a:prstGeom prst="roundRect">
            <a:avLst>
              <a:gd name="adj" fmla="val 25000"/>
            </a:avLst>
          </a:prstGeom>
          <a:solidFill>
            <a:srgbClr val="078DFF"/>
          </a:solidFill>
          <a:ln w="12700">
            <a:solidFill>
              <a:srgbClr val="078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49808" y="3328416"/>
            <a:ext cx="21945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61872" y="3227832"/>
            <a:ext cx="1024128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527048" y="3355848"/>
            <a:ext cx="9784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Seed e recuperação reproduzível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12648" y="3913632"/>
            <a:ext cx="521208" cy="512064"/>
          </a:xfrm>
          <a:prstGeom prst="roundRect">
            <a:avLst>
              <a:gd name="adj" fmla="val 25000"/>
            </a:avLst>
          </a:prstGeom>
          <a:solidFill>
            <a:srgbClr val="1AA96A"/>
          </a:solidFill>
          <a:ln w="12700">
            <a:solidFill>
              <a:srgbClr val="1AA9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49808" y="4014216"/>
            <a:ext cx="21945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61872" y="3913632"/>
            <a:ext cx="1024128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527048" y="4041648"/>
            <a:ext cx="9784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Voz e visão locais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12648" y="4599432"/>
            <a:ext cx="521208" cy="512064"/>
          </a:xfrm>
          <a:prstGeom prst="roundRect">
            <a:avLst>
              <a:gd name="adj" fmla="val 25000"/>
            </a:avLst>
          </a:prstGeom>
          <a:solidFill>
            <a:srgbClr val="078DFF"/>
          </a:solidFill>
          <a:ln w="12700">
            <a:solidFill>
              <a:srgbClr val="078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49808" y="4700016"/>
            <a:ext cx="21945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61872" y="4599432"/>
            <a:ext cx="1024128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527048" y="4727448"/>
            <a:ext cx="9784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físico Atlas Mini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12648" y="5285232"/>
            <a:ext cx="521208" cy="512064"/>
          </a:xfrm>
          <a:prstGeom prst="roundRect">
            <a:avLst>
              <a:gd name="adj" fmla="val 25000"/>
            </a:avLst>
          </a:prstGeom>
          <a:solidFill>
            <a:srgbClr val="1AA96A"/>
          </a:solidFill>
          <a:ln w="12700">
            <a:solidFill>
              <a:srgbClr val="1AA9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49808" y="5385816"/>
            <a:ext cx="21945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61872" y="5285232"/>
            <a:ext cx="1024128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527048" y="5413248"/>
            <a:ext cx="97840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Pilotos educacionais e ecossistema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8DFF"/>
          </a:solidFill>
          <a:ln w="12700">
            <a:solidFill>
              <a:srgbClr val="078D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75488" y="301752"/>
            <a:ext cx="2377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1201400" cy="5852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81D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 de cooperação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1536192"/>
            <a:ext cx="109728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Parque Tecnológico de Santo André · próximos passos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2DF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1208" y="6556248"/>
            <a:ext cx="4572000" cy="173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09.10.2026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039112"/>
            <a:ext cx="349300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0080" y="2039112"/>
            <a:ext cx="64008" cy="3246120"/>
          </a:xfrm>
          <a:prstGeom prst="roundRect">
            <a:avLst>
              <a:gd name="adj" fmla="val 200000"/>
            </a:avLst>
          </a:prstGeom>
          <a:solidFill>
            <a:srgbClr val="078DFF"/>
          </a:solidFill>
          <a:ln w="12700">
            <a:solidFill>
              <a:srgbClr val="078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50392" y="2240280"/>
            <a:ext cx="309981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" y="2798064"/>
            <a:ext cx="3099816" cy="22951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Maturidade, arquitetura, riscos, requisitos e priorização para incubação.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52544" y="2039112"/>
            <a:ext cx="349300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352544" y="2039112"/>
            <a:ext cx="64008" cy="3246120"/>
          </a:xfrm>
          <a:prstGeom prst="roundRect">
            <a:avLst>
              <a:gd name="adj" fmla="val 200000"/>
            </a:avLst>
          </a:prstGeom>
          <a:solidFill>
            <a:srgbClr val="1AA96A"/>
          </a:solidFill>
          <a:ln w="12700">
            <a:solidFill>
              <a:srgbClr val="1AA96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62856" y="2240280"/>
            <a:ext cx="309981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PESQUISA APLICADA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62856" y="2798064"/>
            <a:ext cx="3099816" cy="22951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Conexão com laboratórios, universidades e prototipagem eletrônica.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65008" y="2039112"/>
            <a:ext cx="349300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065008" y="2039112"/>
            <a:ext cx="64008" cy="3246120"/>
          </a:xfrm>
          <a:prstGeom prst="roundRect">
            <a:avLst>
              <a:gd name="adj" fmla="val 200000"/>
            </a:avLst>
          </a:prstGeom>
          <a:solidFill>
            <a:srgbClr val="FFC524"/>
          </a:solidFill>
          <a:ln w="12700">
            <a:solidFill>
              <a:srgbClr val="FFC5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275320" y="2240280"/>
            <a:ext cx="3099816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8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75320" y="2798064"/>
            <a:ext cx="3099816" cy="22951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C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hipótese educacional, métricas e teste supervisionado.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877824"/>
            <a:ext cx="10058400" cy="777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4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ATLAS.IA</a:t>
            </a:r>
            <a:endParaRPr lang="en-US" sz="4700" dirty="0"/>
          </a:p>
        </p:txBody>
      </p:sp>
      <p:sp>
        <p:nvSpPr>
          <p:cNvPr id="3" name="Text 1"/>
          <p:cNvSpPr/>
          <p:nvPr/>
        </p:nvSpPr>
        <p:spPr>
          <a:xfrm>
            <a:off x="795528" y="1847088"/>
            <a:ext cx="1060704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78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Aprender. Ensinar. Criar. Cooperar. Continuar.</a:t>
            </a:r>
            <a:endParaRPr lang="en-US" sz="2400" dirty="0"/>
          </a:p>
        </p:txBody>
      </p:sp>
      <p:pic>
        <p:nvPicPr>
          <p:cNvPr id="4" name="Image 0" descr="/mnt/data/image(20261009-21422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578608"/>
            <a:ext cx="5047488" cy="3310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" y="2999232"/>
            <a:ext cx="5596128" cy="1307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plataforma de inteligência local projetada para evoluir sem perder sua história.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804672" y="6181344"/>
            <a:ext cx="822960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7E2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02  •  Versão de apresentação | 09/10/2026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921</Words>
  <Application>Microsoft Office PowerPoint</Application>
  <PresentationFormat>Widescreen</PresentationFormat>
  <Paragraphs>208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Aptos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ATLAS.IA - Material 02</dc:title>
  <dc:subject>Material 02 Arquitetura Tecnologica</dc:subject>
  <dc:creator>ATLAS.IA</dc:creator>
  <cp:lastModifiedBy>Lucas Cordeiro Rodrigues Santos</cp:lastModifiedBy>
  <cp:revision>1</cp:revision>
  <dcterms:created xsi:type="dcterms:W3CDTF">2026-10-09T21:45:12Z</dcterms:created>
  <dcterms:modified xsi:type="dcterms:W3CDTF">2026-10-10T18:09:11Z</dcterms:modified>
</cp:coreProperties>
</file>