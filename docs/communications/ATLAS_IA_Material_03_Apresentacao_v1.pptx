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8600"/>
            <a:ext cx="5943600" cy="396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D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4389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ATLAS.IA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37160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7BF24"/>
                </a:solidFill>
              </a:rPr>
              <a:t>MATERIAL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846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Atlas Mini • Robótica • Hardware • Fabricação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14600"/>
            <a:ext cx="4572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D8E2F0"/>
                </a:solidFill>
              </a:rPr>
              <a:t>Pequeno no tamanho, gigante nas possibilidades.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49039"/>
            <a:ext cx="1325880" cy="384048"/>
          </a:xfrm>
          <a:prstGeom prst="round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822191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APRENDER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749039"/>
            <a:ext cx="1325880" cy="384048"/>
          </a:xfrm>
          <a:prstGeom prst="round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4792" y="3822191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ENSINAR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3749039"/>
            <a:ext cx="1325880" cy="384048"/>
          </a:xfrm>
          <a:prstGeom prst="round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3822191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CRIAR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5304" y="3749039"/>
            <a:ext cx="1325880" cy="384048"/>
          </a:xfrm>
          <a:prstGeom prst="round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3822191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COOPERAR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251959"/>
            <a:ext cx="1325880" cy="384048"/>
          </a:xfrm>
          <a:prstGeom prst="round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2511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CONTINUAR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4663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C3CDDC"/>
                </a:solidFill>
              </a:rPr>
              <a:t>Documento institucional para apresentação da frente robótica do ATLAS.IA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O Atlas Mini é a primeira proposta de corpo físico do ATLAS.IA.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126480" cy="4206240"/>
          </a:xfrm>
          <a:prstGeom prst="rect">
            <a:avLst/>
          </a:prstGeom>
          <a:noFill/>
        </p:spPr>
        <p:txBody>
          <a:bodyPr wrap="square" lIns="101600" rIns="101600" tIns="50800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O Atlas é o sistema; o robô é uma interface física substituível e controlada.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A base atual comprovada é de software: Mosaic, Agent Loop v0, Observabilidade v0 e Robotics HAL v0.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A frente robótica está estruturada como proposta técnica incremental, iniciando por um demonstrador de bancada.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O foco inicial é segurança, modularidade, fabricação viável e uso educacional supervisionado.</a:t>
            </a:r>
          </a:p>
        </p:txBody>
      </p:sp>
      <p:pic>
        <p:nvPicPr>
          <p:cNvPr id="6" name="Picture 5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206240" cy="2804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Conceito e posicionamento do Atlas 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Papel do produto na estratégia do ATLAS.IA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1234440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44168"/>
            <a:ext cx="331012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Companheiro educacional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3310128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Companheiro de aprendizagem e laboratório de interação humano–IA, voltado a explicação, raciocínio e estímulo à curiosidade.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109728" cy="1234440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44168"/>
            <a:ext cx="331012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Plataforma de experimentação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45920"/>
            <a:ext cx="3310128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Ambiente para testar voz, expressão visual, sensores, conectividade local e respostas controladas.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109728" cy="1234440"/>
          </a:xfrm>
          <a:prstGeom prst="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44168"/>
            <a:ext cx="32644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Extensão do Atlas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O corpo físico deve preservar a identidade do Atlas, sem aprisionar o sistema a um único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109728" cy="2011680"/>
          </a:xfrm>
          <a:prstGeom prst="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852928"/>
            <a:ext cx="5047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Diretriz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154680"/>
            <a:ext cx="5047488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O design visual do Atlas Mini é uma referência conceitual. Dimensões, massa, materiais, movimentos, autonomia e custo final ainda dependem de CAD, prototipagem, eletrônica embarcada e ensaios reais.</a:t>
            </a:r>
          </a:p>
        </p:txBody>
      </p:sp>
      <p:pic>
        <p:nvPicPr>
          <p:cNvPr id="21" name="Picture 20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31720"/>
            <a:ext cx="4937760" cy="32918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Escopo por maturidade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Da simulação atual ao protótipo físico demonstrável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8988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307592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307592"/>
            <a:ext cx="109728" cy="65836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417320"/>
            <a:ext cx="9619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M0 •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719072"/>
            <a:ext cx="961948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Identidade visual, princípios do produto e documentação inicial.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0428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221992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2221992"/>
            <a:ext cx="109728" cy="658368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81912" y="2331720"/>
            <a:ext cx="9619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M1 • Simulação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2633472"/>
            <a:ext cx="961948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HAL de robótica simulada, políticas de segurança e testes automatizados.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1868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136392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0" y="3136392"/>
            <a:ext cx="109728" cy="658368"/>
          </a:xfrm>
          <a:prstGeom prst="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81912" y="3246120"/>
            <a:ext cx="9619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M2 • Bancada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3547872"/>
            <a:ext cx="961948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Microcontrolador, LED, sensor simples e servo de demonstração, com firmware versionado.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3308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050792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4050792"/>
            <a:ext cx="109728" cy="658368"/>
          </a:xfrm>
          <a:prstGeom prst="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1912" y="4160520"/>
            <a:ext cx="9619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M3 • Protótipo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4462272"/>
            <a:ext cx="961948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Carcaça impressa em 3D, montagem integrada, interface visual e validação supervisionada.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04748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965192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4965192"/>
            <a:ext cx="109728" cy="65836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1912" y="5074920"/>
            <a:ext cx="9619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M4 • POC educacional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1912" y="5376672"/>
            <a:ext cx="961948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Sessões curtas em ambiente controlado, com mediação docente.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Arquitetura técnica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Fluxo alvo para a frente robótica do ATLAS.IA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31520"/>
          </a:xfrm>
          <a:prstGeom prst="round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10378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1. Interface de usuário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10378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voz, tela, comandos locais e experiência educacional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240280"/>
            <a:ext cx="9784080" cy="731520"/>
          </a:xfrm>
          <a:prstGeom prst="round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331720"/>
            <a:ext cx="9464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2. Atlas Core + Mosaic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606040"/>
            <a:ext cx="9464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identidade, compreensão, contexto, decisão e roteamento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063240"/>
            <a:ext cx="8869680" cy="731520"/>
          </a:xfrm>
          <a:prstGeom prst="round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3154680"/>
            <a:ext cx="8549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3. Agent Loop + 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429000"/>
            <a:ext cx="8549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planejamento de ação, Policy Engine, Tool Registry e observabilidade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886200"/>
            <a:ext cx="7955279" cy="731520"/>
          </a:xfrm>
          <a:prstGeom prst="round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7712" y="3977640"/>
            <a:ext cx="763523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4. Robotics HAL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4251960"/>
            <a:ext cx="763523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contratos de leitura e saída; interface desacoplada de hardware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709160"/>
            <a:ext cx="7040880" cy="731520"/>
          </a:xfrm>
          <a:prstGeom prst="round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4800600"/>
            <a:ext cx="6720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5. Hardware físico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5074920"/>
            <a:ext cx="6720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sensores, LED, servo, controladores e energia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Arquitetura de hardware — proposta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Primeira montagem: baixo risco, baixo custo e alto aprendizado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" cy="4297680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5047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Unidades funcionais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5047488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
• Microcontrolador / SBC: ESP32, Raspberry Pi ou combinação equivalente.
• Saídas de demonstração: LED de status, servo simples e pequena interface visual.
• Sensores iniciais: botão, distância, toque ou luminosidade.
• Energia: fonte estável de bancada; evitar bateria de lítio na primeira fase.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109728" cy="4297680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35608"/>
            <a:ext cx="5047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Estrutura física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37360"/>
            <a:ext cx="5047488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
• Estrutura impressa em 3D em módulos: cabeça, corpo, base, suportes e tampas.
• Acesso a cabos e conectores, ventilação, fixação mecânica e manutenção.
• Separação entre controle lógico, energia e elementos móveis.
• Preparação para expansão futura com áudio, câmera e comunicação local.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Manufatura aditiva e desenho mecânico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Como transformar o conceito visual em um corpo fabricável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035040" cy="4389120"/>
          </a:xfrm>
          <a:prstGeom prst="rect">
            <a:avLst/>
          </a:prstGeom>
          <a:noFill/>
        </p:spPr>
        <p:txBody>
          <a:bodyPr wrap="square" lIns="101600" rIns="101600" tIns="50800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D192C"/>
                </a:solidFill>
              </a:defRPr>
            </a:pPr>
            <a:r>
              <a:t>Criar CAD paramétrico separado por módulos: cabeça, face/tela, base, corpo, tampas, encaixes e suportes de placa.</a:t>
            </a:r>
          </a:p>
          <a:p>
            <a:pPr>
              <a:spcAft>
                <a:spcPts val="600"/>
              </a:spcAft>
              <a:defRPr sz="1600">
                <a:solidFill>
                  <a:srgbClr val="0D192C"/>
                </a:solidFill>
              </a:defRPr>
            </a:pPr>
            <a:r>
              <a:t>Prever passagem de cabos, acesso a conectores, ventilação, tolerâncias e manutenção.</a:t>
            </a:r>
          </a:p>
          <a:p>
            <a:pPr>
              <a:spcAft>
                <a:spcPts val="600"/>
              </a:spcAft>
              <a:defRPr sz="1600">
                <a:solidFill>
                  <a:srgbClr val="0D192C"/>
                </a:solidFill>
              </a:defRPr>
            </a:pPr>
            <a:r>
              <a:t>Utilizar PETG ou material equivalente de acordo com resistência, calor e segurança.</a:t>
            </a:r>
          </a:p>
          <a:p>
            <a:pPr>
              <a:spcAft>
                <a:spcPts val="600"/>
              </a:spcAft>
              <a:defRPr sz="1600">
                <a:solidFill>
                  <a:srgbClr val="0D192C"/>
                </a:solidFill>
              </a:defRPr>
            </a:pPr>
            <a:r>
              <a:t>Padronizar parafusos, folgas, paredes e revisões de STL/3MF/STEP após ensaios reais.</a:t>
            </a:r>
          </a:p>
          <a:p>
            <a:pPr>
              <a:spcAft>
                <a:spcPts val="600"/>
              </a:spcAft>
              <a:defRPr sz="1600">
                <a:solidFill>
                  <a:srgbClr val="0D192C"/>
                </a:solidFill>
              </a:defRPr>
            </a:pPr>
            <a:r>
              <a:t>Distinguir o render conceitual do processo viável de fabricação e montagem.</a:t>
            </a:r>
          </a:p>
        </p:txBody>
      </p:sp>
      <p:pic>
        <p:nvPicPr>
          <p:cNvPr id="6" name="Picture 5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34440"/>
            <a:ext cx="4297680" cy="2865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Segurança física e cibernética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As proteções críticas não podem depender apenas do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" cy="1645920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5093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Controles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5093208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Saídas de alto risco exigem autorização explícita, regras do Policy Engine e trilha de auditoria.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109728" cy="1645920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527048"/>
            <a:ext cx="5093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Controles de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828800"/>
            <a:ext cx="5093208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Watchdog, limites de corrente, posição e temperatura devem existir no controlador físico.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9728" cy="1645920"/>
          </a:xfrm>
          <a:prstGeom prst="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67328"/>
            <a:ext cx="5093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Parada segura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5093208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Quando houver mecanismos móveis, incluir botão físico de parada e impedir reinício perigoso.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5760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657600"/>
            <a:ext cx="109728" cy="1645920"/>
          </a:xfrm>
          <a:prstGeom prst="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767328"/>
            <a:ext cx="5093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Proteção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069080"/>
            <a:ext cx="5093208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Registrar operações sem armazenar indiscriminadamente áudio ou dados pessoais de crianças.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Atlas Mini educacional — prova de 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Primeira aplicação prioritária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7490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4389120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81328"/>
            <a:ext cx="349300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3493007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Ajudar o estudante a construir raciocínio, curiosidade e compreensão, sem substituir a mediação do professor.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371600"/>
            <a:ext cx="37490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371600"/>
            <a:ext cx="109728" cy="4389120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81328"/>
            <a:ext cx="3493007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Formato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83080"/>
            <a:ext cx="3493007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Sessões curtas, locais e supervisionadas, com atividades guiadas e interação controlada.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371600"/>
            <a:ext cx="3017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371600"/>
            <a:ext cx="109728" cy="4389120"/>
          </a:xfrm>
          <a:prstGeom prst="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481328"/>
            <a:ext cx="2761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Cuidados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1783080"/>
            <a:ext cx="2761488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Privacidade, supervisão, proteção infantil, filtros de conteúdo e rastreabilidade.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Lista de materiais (BOM) e 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Estrutura para cotação — sem números fictícios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2103120" cy="502920"/>
          </a:xfrm>
          <a:prstGeom prst="rect">
            <a:avLst/>
          </a:prstGeom>
          <a:solidFill>
            <a:srgbClr val="147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19568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Categoria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45920"/>
            <a:ext cx="6400800" cy="502920"/>
          </a:xfrm>
          <a:prstGeom prst="rect">
            <a:avLst/>
          </a:prstGeom>
          <a:solidFill>
            <a:srgbClr val="147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755648"/>
            <a:ext cx="625449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Itens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645920"/>
            <a:ext cx="2011680" cy="502920"/>
          </a:xfrm>
          <a:prstGeom prst="rect">
            <a:avLst/>
          </a:prstGeom>
          <a:solidFill>
            <a:srgbClr val="147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00032" y="1755648"/>
            <a:ext cx="186537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4884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4028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Controle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148840"/>
            <a:ext cx="6400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24028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Microcontrolador / SBC / 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14884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224028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651760"/>
            <a:ext cx="210312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4320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Sensores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651760"/>
            <a:ext cx="640080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Botão, distância, toque, luminosidade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651760"/>
            <a:ext cx="201168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74320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15468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24612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Atuação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154680"/>
            <a:ext cx="6400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324612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LED, servo simples, tela/face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324612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57600"/>
            <a:ext cx="210312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74904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Estrutura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657600"/>
            <a:ext cx="640080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374904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Peças 3D, fixadores, suportes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3657600"/>
            <a:ext cx="201168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374904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16052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25196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Energia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160520"/>
            <a:ext cx="6400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425196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Fonte, conectores, proteção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16052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0032" y="425196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663440"/>
            <a:ext cx="210312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754880"/>
            <a:ext cx="195681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Montagem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4663440"/>
            <a:ext cx="640080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4754880"/>
            <a:ext cx="62544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Cabos, conectores, bancada e ferramentas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4663440"/>
            <a:ext cx="2011680" cy="502920"/>
          </a:xfrm>
          <a:prstGeom prst="rect">
            <a:avLst/>
          </a:prstGeom>
          <a:solidFill>
            <a:srgbClr val="F2F6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4754880"/>
            <a:ext cx="186537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A cotar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Organização das frentes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Distribuição sugerida — sujeita à governança do Material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9728" cy="65836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81328"/>
            <a:ext cx="10259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Software embarcado e integração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83080"/>
            <a:ext cx="1025956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firmware, protocolo, HAL, segurança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109728" cy="658368"/>
          </a:xfrm>
          <a:prstGeom prst="rect">
            <a:avLst/>
          </a:prstGeom>
          <a:solidFill>
            <a:srgbClr val="20B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50008"/>
            <a:ext cx="10259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Mecânica e impressão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51760"/>
            <a:ext cx="1025956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CAD, carcaça, montagem, tolerâncias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089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09728" cy="658368"/>
          </a:xfrm>
          <a:prstGeom prst="rect">
            <a:avLst/>
          </a:prstGeom>
          <a:solidFill>
            <a:srgbClr val="F7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18688"/>
            <a:ext cx="10259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Eletrônica e energia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520440"/>
            <a:ext cx="1025956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placas, sensores, proteção, alimentação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77640"/>
            <a:ext cx="109728" cy="658368"/>
          </a:xfrm>
          <a:prstGeom prst="rect">
            <a:avLst/>
          </a:prstGeom>
          <a:solidFill>
            <a:srgbClr val="7A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87368"/>
            <a:ext cx="10259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Experiência e educação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89120"/>
            <a:ext cx="1025956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uso pedagógico, atividades, supervisão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109728" cy="65836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956048"/>
            <a:ext cx="10259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0D192C"/>
                </a:solidFill>
              </a:rPr>
              <a:t>Qualidade e testes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257800"/>
            <a:ext cx="10259568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0D192C"/>
                </a:solidFill>
              </a:rPr>
              <a:t>ensaios, riscos, critérios de aceite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Cronograma por portões de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Marco a marco, sem prometer maturidade antes das evidências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103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4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402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47AFF"/>
                </a:solidFill>
              </a:rPr>
              <a:t>Portão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517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0D192C"/>
                </a:solidFill>
              </a:rPr>
              <a:t>Conceito visual e requisitos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103120"/>
            <a:ext cx="2103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0B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22402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20B561"/>
                </a:solidFill>
              </a:rPr>
              <a:t>Portão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6517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0D192C"/>
                </a:solidFill>
              </a:rPr>
              <a:t>Bancada eletrônica simples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103120"/>
            <a:ext cx="2103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7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22402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7BF24"/>
                </a:solidFill>
              </a:rPr>
              <a:t>Portão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6517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0D192C"/>
                </a:solidFill>
              </a:rPr>
              <a:t>Firmware + segurança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03120"/>
            <a:ext cx="2103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7A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7" y="22402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A48FF"/>
                </a:solidFill>
              </a:rPr>
              <a:t>Portão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7" y="26517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0D192C"/>
                </a:solidFill>
              </a:rPr>
              <a:t>Carcaça e montagem inicial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59" y="2103120"/>
            <a:ext cx="2103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687" y="22402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8C28"/>
                </a:solidFill>
              </a:rPr>
              <a:t>Portão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7" y="26517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0D192C"/>
                </a:solidFill>
              </a:rPr>
              <a:t>POC educacional supervisionada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192C"/>
                </a:solidFill>
              </a:rPr>
              <a:t>Necessidades para incubação e parceria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757D"/>
                </a:solidFill>
              </a:rPr>
              <a:t>Como o ecossistema pode acelerar o Atlas 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114800"/>
          </a:xfrm>
          <a:prstGeom prst="rect">
            <a:avLst/>
          </a:prstGeom>
          <a:noFill/>
        </p:spPr>
        <p:txBody>
          <a:bodyPr wrap="square" lIns="101600" rIns="101600" tIns="50800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Acesso a espaço de prototipagem, medição, eletrônica e impressão 3D.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Mentoria em produto, eletrônica embarcada, robótica segura e design industrial.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Apoio a provas de conceito educacionais com instituições parceiras.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Apoio em custo, suprimentos, propriedade intelectual e validação de mercado.</a:t>
            </a:r>
          </a:p>
          <a:p>
            <a:pPr>
              <a:spcAft>
                <a:spcPts val="600"/>
              </a:spcAft>
              <a:defRPr sz="1700">
                <a:solidFill>
                  <a:srgbClr val="0D192C"/>
                </a:solidFill>
              </a:defRPr>
            </a:pPr>
            <a:r>
              <a:t>Definição conjunta do primeiro protótipo e de seus critérios objetivos de sucesso.</a:t>
            </a:r>
          </a:p>
        </p:txBody>
      </p:sp>
      <p:pic>
        <p:nvPicPr>
          <p:cNvPr id="6" name="Picture 5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25880"/>
            <a:ext cx="384048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Material 03 • Robótica, Hardware e Atlas Mini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175d017-9049-5110-87c0-a985615170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02920"/>
            <a:ext cx="493776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777240"/>
            <a:ext cx="3200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7BF24"/>
                </a:solidFill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0292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O próximo passo do Atlas Mini não é prometer um robô completo, e sim construir uma prova de conceito segura, honesta, reproduzível e tecnicamente verificável.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53035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D2DCEB"/>
                </a:solidFill>
              </a:rPr>
              <a:t>ATLAS.IA • Inteligência ao seu lado.
Aprender • Ensinar • Criar • Cooperar • Continuar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B9C8DC"/>
                </a:solidFill>
              </a:rPr>
              <a:t>Material 03 — Robótica, Hardware e Atlas 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74552" cy="18288"/>
          </a:xfrm>
          <a:prstGeom prst="rect">
            <a:avLst/>
          </a:prstGeom>
          <a:solidFill>
            <a:srgbClr val="1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57D"/>
                </a:solidFill>
              </a:rPr>
              <a:t>ATLAS.IA • Encerramento • Material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