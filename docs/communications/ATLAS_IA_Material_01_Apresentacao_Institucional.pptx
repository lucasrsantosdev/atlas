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A1A2C"/>
          </a:solidFill>
          <a:ln w="12700">
            <a:solidFill>
              <a:srgbClr val="0A1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8229600" y="1143000"/>
            <a:ext cx="2926080" cy="2926080"/>
          </a:xfrm>
          <a:prstGeom prst="arc">
            <a:avLst/>
          </a:prstGeom>
          <a:solidFill>
            <a:srgbClr val="0A1A2C">
              <a:alpha val="0"/>
            </a:srgbClr>
          </a:solidFill>
          <a:ln w="25400">
            <a:solidFill>
              <a:srgbClr val="33D4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8522208" y="1371600"/>
            <a:ext cx="2697480" cy="2697480"/>
          </a:xfrm>
          <a:prstGeom prst="arc">
            <a:avLst/>
          </a:prstGeom>
          <a:solidFill>
            <a:srgbClr val="0A1A2C">
              <a:alpha val="0"/>
            </a:srgbClr>
          </a:solidFill>
          <a:ln w="25400">
            <a:solidFill>
              <a:srgbClr val="2C4962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8814816" y="1600200"/>
            <a:ext cx="2468880" cy="2468880"/>
          </a:xfrm>
          <a:prstGeom prst="arc">
            <a:avLst/>
          </a:prstGeom>
          <a:solidFill>
            <a:srgbClr val="0A1A2C">
              <a:alpha val="0"/>
            </a:srgbClr>
          </a:solidFill>
          <a:ln w="25400">
            <a:solidFill>
              <a:srgbClr val="33D4ED">
                <a:alpha val="6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9107424" y="1828800"/>
            <a:ext cx="2240280" cy="2240280"/>
          </a:xfrm>
          <a:prstGeom prst="arc">
            <a:avLst/>
          </a:prstGeom>
          <a:solidFill>
            <a:srgbClr val="0A1A2C">
              <a:alpha val="0"/>
            </a:srgbClr>
          </a:solidFill>
          <a:ln w="25400">
            <a:solidFill>
              <a:srgbClr val="2C4962">
                <a:alpha val="6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9400032" y="2057400"/>
            <a:ext cx="2011680" cy="2011680"/>
          </a:xfrm>
          <a:prstGeom prst="arc">
            <a:avLst/>
          </a:prstGeom>
          <a:solidFill>
            <a:srgbClr val="0A1A2C">
              <a:alpha val="0"/>
            </a:srgbClr>
          </a:solidFill>
          <a:ln w="25400">
            <a:solidFill>
              <a:srgbClr val="33D4ED">
                <a:alpha val="6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98448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86384" y="23682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INTELIGÊNCIA AO SEU LADO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8952" y="3200400"/>
            <a:ext cx="1097280" cy="59436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20440"/>
            <a:ext cx="7086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EMPRESA, ORGANIZAÇÃO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GOVERNANÇA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" y="5788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institucional • Material 01 • Versão 1.1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CONTEXTO E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construir o ATLAS.IA?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3520440" cy="3474720"/>
          </a:xfrm>
          <a:prstGeom prst="roundRect">
            <a:avLst>
              <a:gd name="adj" fmla="val 4737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47088"/>
            <a:ext cx="59436" cy="347472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11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 digital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606040"/>
            <a:ext cx="312724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Grande parte das soluções de IA depende continuamente de conectividade e provedores externos.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847088"/>
            <a:ext cx="3520440" cy="3474720"/>
          </a:xfrm>
          <a:prstGeom prst="roundRect">
            <a:avLst>
              <a:gd name="adj" fmla="val 4737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847088"/>
            <a:ext cx="59436" cy="347472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011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conhecimento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44568" y="2606040"/>
            <a:ext cx="312724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Dados, memória, atualizações e ferramentas precisam de regras claras de gestão e continuidade.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847088"/>
            <a:ext cx="3520440" cy="3474720"/>
          </a:xfrm>
          <a:prstGeom prst="roundRect">
            <a:avLst>
              <a:gd name="adj" fmla="val 4737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847088"/>
            <a:ext cx="59436" cy="347472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011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Integração segura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47888" y="2606040"/>
            <a:ext cx="312724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IA à educação e ao mundo físico exige supervisão, rastreabilidade e proteção de dados.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PROPOSTA DE VALOR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IA local, modular e contínua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828800"/>
            <a:ext cx="10744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de inteligência artificial extensível para conhecimento, educação, assistência e automação.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67512" y="2999232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999232"/>
            <a:ext cx="59436" cy="118872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63824"/>
            <a:ext cx="5001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758184"/>
            <a:ext cx="5001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local sempre que tecnicamente possível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91072" y="2999232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2999232"/>
            <a:ext cx="59436" cy="118872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163824"/>
            <a:ext cx="5001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758184"/>
            <a:ext cx="5001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Continuidade do conhecimento autorizado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" y="4370832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4370832"/>
            <a:ext cx="59436" cy="118872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535424"/>
            <a:ext cx="5001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MODULARIDADE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5129784"/>
            <a:ext cx="5001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e componentes substituíveis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91072" y="4370832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072" y="4370832"/>
            <a:ext cx="59436" cy="118872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35424"/>
            <a:ext cx="5001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5129784"/>
            <a:ext cx="5001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Políticas, revisão e auditabilidade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ENQUADRAMENTO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e estágio institucional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94960" cy="3429000"/>
          </a:xfrm>
          <a:prstGeom prst="roundRect">
            <a:avLst>
              <a:gd name="adj" fmla="val 4800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59436" cy="342900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93392"/>
            <a:ext cx="5001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somos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587752"/>
            <a:ext cx="5001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— iniciativa de base tecnológica em estruturação e validação.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 local: Santo André, SP.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 jurídica proposta: Easy Control, sujeita à confirmação documental.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03520" cy="3429000"/>
          </a:xfrm>
          <a:prstGeom prst="roundRect">
            <a:avLst>
              <a:gd name="adj" fmla="val 4800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9436" cy="3429000"/>
          </a:xfrm>
          <a:prstGeom prst="rect">
            <a:avLst/>
          </a:prstGeom>
          <a:solidFill>
            <a:srgbClr val="69DBB5"/>
          </a:solidFill>
          <a:ln w="12700">
            <a:solidFill>
              <a:srgbClr val="69D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993392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estamos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9088" y="2587752"/>
            <a:ext cx="491032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 preliminar: VALIDAÇÃO.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Já existem arquitetura, repositório e componentes técnicos.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Faltam evidências reproduzíveis, demanda validada e estudos de viabilidade.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5623560"/>
            <a:ext cx="1965960" cy="347472"/>
          </a:xfrm>
          <a:prstGeom prst="roundRect">
            <a:avLst>
              <a:gd name="adj" fmla="val 31579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566928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5623560"/>
            <a:ext cx="1965960" cy="347472"/>
          </a:xfrm>
          <a:prstGeom prst="roundRect">
            <a:avLst>
              <a:gd name="adj" fmla="val 31579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9816" y="566928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ENSINAR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5623560"/>
            <a:ext cx="1965960" cy="347472"/>
          </a:xfrm>
          <a:prstGeom prst="roundRect">
            <a:avLst>
              <a:gd name="adj" fmla="val 31579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2936" y="566928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5623560"/>
            <a:ext cx="1965960" cy="347472"/>
          </a:xfrm>
          <a:prstGeom prst="roundRect">
            <a:avLst>
              <a:gd name="adj" fmla="val 31579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566928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COOPERAR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0" y="5623560"/>
            <a:ext cx="1965960" cy="347472"/>
          </a:xfrm>
          <a:prstGeom prst="roundRect">
            <a:avLst>
              <a:gd name="adj" fmla="val 31579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09176" y="566928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PORTFÓLIO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 com prioridades definidas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440680" cy="1572768"/>
          </a:xfrm>
          <a:prstGeom prst="roundRect">
            <a:avLst>
              <a:gd name="adj" fmla="val 10465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74520"/>
            <a:ext cx="59436" cy="1572768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39112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633472"/>
            <a:ext cx="50474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de software, memória, conhecimento, Mosaic e segurança.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5352" y="1874520"/>
            <a:ext cx="5303520" cy="1572768"/>
          </a:xfrm>
          <a:prstGeom prst="roundRect">
            <a:avLst>
              <a:gd name="adj" fmla="val 10465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874520"/>
            <a:ext cx="59436" cy="1572768"/>
          </a:xfrm>
          <a:prstGeom prst="rect">
            <a:avLst/>
          </a:prstGeom>
          <a:solidFill>
            <a:srgbClr val="69DBB5"/>
          </a:solidFill>
          <a:ln w="12700">
            <a:solidFill>
              <a:srgbClr val="69D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039112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MINI EDUCAÇÃO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633472"/>
            <a:ext cx="49103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prioritária para validação educacional.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5440680" cy="1572768"/>
          </a:xfrm>
          <a:prstGeom prst="roundRect">
            <a:avLst>
              <a:gd name="adj" fmla="val 10465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75888"/>
            <a:ext cx="59436" cy="1572768"/>
          </a:xfrm>
          <a:prstGeom prst="rect">
            <a:avLst/>
          </a:prstGeom>
          <a:solidFill>
            <a:srgbClr val="FFCC83"/>
          </a:solidFill>
          <a:ln w="12700">
            <a:solidFill>
              <a:srgbClr val="FFCC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84048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FÍSICOS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4434840"/>
            <a:ext cx="50474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Mini, robótica, casa, drone e dispositivos embarcados.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5352" y="3675888"/>
            <a:ext cx="5303520" cy="1572768"/>
          </a:xfrm>
          <a:prstGeom prst="roundRect">
            <a:avLst>
              <a:gd name="adj" fmla="val 10465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3675888"/>
            <a:ext cx="59436" cy="1572768"/>
          </a:xfrm>
          <a:prstGeom prst="rect">
            <a:avLst/>
          </a:prstGeom>
          <a:solidFill>
            <a:srgbClr val="FFCC83"/>
          </a:solidFill>
          <a:ln w="12700">
            <a:solidFill>
              <a:srgbClr val="FFCC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840480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PESQUISA E FUTURO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4434840"/>
            <a:ext cx="49103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Arandu, infraestrutura, serviços digitais e novas frentes.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6875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de apresentação e validação: Atlas Core + Atlas Mini Educação.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APLICAÇÃO INICIAL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Mini Educação: primeira prova de conceito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Assistente educacional com IA local e mediação de professores.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49808" y="2651760"/>
            <a:ext cx="10698480" cy="859536"/>
          </a:xfrm>
          <a:prstGeom prst="roundRect">
            <a:avLst>
              <a:gd name="adj" fmla="val 14894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76148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56232" y="2752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Conteúdo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30752" y="274320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Alfabetização, matemática, pensamento crítico e introdução à IA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3657600"/>
            <a:ext cx="10698480" cy="859536"/>
          </a:xfrm>
          <a:prstGeom prst="roundRect">
            <a:avLst>
              <a:gd name="adj" fmla="val 14894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76732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56232" y="3758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30752" y="374904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Conversação e atividades com educadores em ambiente controlado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" y="4663440"/>
            <a:ext cx="10698480" cy="859536"/>
          </a:xfrm>
          <a:prstGeom prst="roundRect">
            <a:avLst>
              <a:gd name="adj" fmla="val 14894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77316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856232" y="47640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30752" y="475488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segurança, acessibilidade e eventual piloto supervisionado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8096" y="5943600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C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visual ≠ protótipo físico validado. Pilotos dependem de autorizações.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MATURIDADE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 técnica baseada em evidências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47672"/>
            <a:ext cx="3502152" cy="3264408"/>
          </a:xfrm>
          <a:prstGeom prst="roundRect">
            <a:avLst>
              <a:gd name="adj" fmla="val 5042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947672"/>
            <a:ext cx="59436" cy="3264408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12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EM DESENVOLVIMENTO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9536" y="2706624"/>
            <a:ext cx="31089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Arquitetura, repositório, CLI, modelo local e componentes do Core.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52544" y="1947672"/>
            <a:ext cx="3502152" cy="3264408"/>
          </a:xfrm>
          <a:prstGeom prst="roundRect">
            <a:avLst>
              <a:gd name="adj" fmla="val 5042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2544" y="1947672"/>
            <a:ext cx="59436" cy="3264408"/>
          </a:xfrm>
          <a:prstGeom prst="rect">
            <a:avLst/>
          </a:prstGeom>
          <a:solidFill>
            <a:srgbClr val="69DBB5"/>
          </a:solidFill>
          <a:ln w="12700">
            <a:solidFill>
              <a:srgbClr val="69D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2112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INTEGRAÇÃO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3712" y="2706624"/>
            <a:ext cx="31089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Memória, Knowledge, Mosaic, políticas, ferramentas e testes.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947672"/>
            <a:ext cx="3502152" cy="3264408"/>
          </a:xfrm>
          <a:prstGeom prst="roundRect">
            <a:avLst>
              <a:gd name="adj" fmla="val 5042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947672"/>
            <a:ext cx="59436" cy="3264408"/>
          </a:xfrm>
          <a:prstGeom prst="rect">
            <a:avLst/>
          </a:prstGeom>
          <a:solidFill>
            <a:srgbClr val="FFCC83"/>
          </a:solidFill>
          <a:ln w="12700">
            <a:solidFill>
              <a:srgbClr val="FFCC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112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PESQUISA / PROTÓTIPO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47888" y="2706624"/>
            <a:ext cx="31089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Robótica, dispositivos físicos, Arandu e serviços digitais próprios.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562356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funcionalidades serão apresentadas como concluídas apenas após demonstração e teste verificáveis.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PESSOAS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multidisciplinar organizada por funções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5358384" cy="813816"/>
          </a:xfrm>
          <a:prstGeom prst="roundRect">
            <a:avLst>
              <a:gd name="adj" fmla="val 1348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019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267712" y="190195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Coordenação e arquitetura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91072" y="1783080"/>
            <a:ext cx="5358384" cy="813816"/>
          </a:xfrm>
          <a:prstGeom prst="roundRect">
            <a:avLst>
              <a:gd name="adj" fmla="val 1348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019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Fernando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45552" y="190195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 segurança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3232" y="2779776"/>
            <a:ext cx="5358384" cy="813816"/>
          </a:xfrm>
          <a:prstGeom prst="roundRect">
            <a:avLst>
              <a:gd name="adj" fmla="val 1348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9864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Tati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267712" y="2898648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 e operações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91072" y="2779776"/>
            <a:ext cx="5358384" cy="813816"/>
          </a:xfrm>
          <a:prstGeom prst="roundRect">
            <a:avLst>
              <a:gd name="adj" fmla="val 1348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89864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45552" y="2898648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Robótica e engenharia física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3232" y="3776472"/>
            <a:ext cx="5358384" cy="813816"/>
          </a:xfrm>
          <a:prstGeom prst="roundRect">
            <a:avLst>
              <a:gd name="adj" fmla="val 1348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953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Igor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267712" y="389534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/ Mosaic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91072" y="3776472"/>
            <a:ext cx="5358384" cy="813816"/>
          </a:xfrm>
          <a:prstGeom prst="roundRect">
            <a:avLst>
              <a:gd name="adj" fmla="val 1348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8953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Eric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45552" y="389534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Mini / embarcados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13232" y="4773168"/>
            <a:ext cx="5358384" cy="813816"/>
          </a:xfrm>
          <a:prstGeom prst="roundRect">
            <a:avLst>
              <a:gd name="adj" fmla="val 1348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892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267712" y="4892040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Infraestrutura e testes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91072" y="4773168"/>
            <a:ext cx="5358384" cy="813816"/>
          </a:xfrm>
          <a:prstGeom prst="roundRect">
            <a:avLst>
              <a:gd name="adj" fmla="val 1348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892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Lauro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845552" y="4892040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Conhecimento e pesquisa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" y="60990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Papéis propostos, sujeitos a confirmação individual e instrumentos adequados.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ORGANIZAÇÃO E PROCESSOS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simples, documentada e segura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224028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3317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2624328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12264" y="2450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40280" y="224028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3317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624328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Responsável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39896" y="2450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67912" y="224028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9352" y="23317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59352" y="2624328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67528" y="2450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95544" y="224028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6984" y="23317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86984" y="2624328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450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23176" y="224028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14616" y="23317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14616" y="2624328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22792" y="2450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750808" y="224028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42248" y="23317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42248" y="2624328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50424" y="2450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378440" y="224028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132D47"/>
          </a:solidFill>
          <a:ln w="12700">
            <a:solidFill>
              <a:srgbClr val="132D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69880" y="23317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69880" y="2624328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Integração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4088" y="3813048"/>
            <a:ext cx="5285232" cy="1417320"/>
          </a:xfrm>
          <a:prstGeom prst="roundRect">
            <a:avLst>
              <a:gd name="adj" fmla="val 1161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" y="3813048"/>
            <a:ext cx="59436" cy="141732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" y="3977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05256" y="4572000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Estratégia, orçamento, riscos e mudanças relevantes com registro e responsáveis.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72200" y="3813048"/>
            <a:ext cx="5285232" cy="1417320"/>
          </a:xfrm>
          <a:prstGeom prst="roundRect">
            <a:avLst>
              <a:gd name="adj" fmla="val 1161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3813048"/>
            <a:ext cx="59436" cy="1417320"/>
          </a:xfrm>
          <a:prstGeom prst="rect">
            <a:avLst/>
          </a:prstGeom>
          <a:solidFill>
            <a:srgbClr val="69DBB5"/>
          </a:solidFill>
          <a:ln w="12700">
            <a:solidFill>
              <a:srgbClr val="69DB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3368" y="3977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DIREITOS E ACESSOS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373368" y="4572000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Contratos, propriedade intelectual, confidencialidade e participação dependem de formalização.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MERCADO E VIABILIDADE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negócio a validar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1883664"/>
            <a:ext cx="5367528" cy="3401568"/>
          </a:xfrm>
          <a:prstGeom prst="roundRect">
            <a:avLst>
              <a:gd name="adj" fmla="val 4839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883664"/>
            <a:ext cx="59436" cy="3401568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48256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E APLICAÇÕES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642616"/>
            <a:ext cx="497433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inicial: escolas, redes de ensino e organizações educacionais.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Públicos complementares: pesquisa, empresas e laboratórios de automação.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883664"/>
            <a:ext cx="5330952" cy="3401568"/>
          </a:xfrm>
          <a:prstGeom prst="roundRect">
            <a:avLst>
              <a:gd name="adj" fmla="val 4839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83664"/>
            <a:ext cx="59436" cy="3401568"/>
          </a:xfrm>
          <a:prstGeom prst="rect">
            <a:avLst/>
          </a:prstGeom>
          <a:solidFill>
            <a:srgbClr val="69DBB5"/>
          </a:solidFill>
          <a:ln w="12700">
            <a:solidFill>
              <a:srgbClr val="69D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0482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 — HIPÓTESES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9088" y="2642616"/>
            <a:ext cx="493776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Licenciamento e suporte.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Implantação e capacitação.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Kits e serviços Atlas Mini.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Parcerias, projetos e editais.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" y="5660136"/>
            <a:ext cx="10716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C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Ainda não há afirmação de receita, carteira de clientes, preços ou margens validadas.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EXECUÇÃO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com marcos verificáveis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801368"/>
            <a:ext cx="10808208" cy="822960"/>
          </a:xfrm>
          <a:prstGeom prst="roundRect">
            <a:avLst>
              <a:gd name="adj" fmla="val 1333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801368"/>
            <a:ext cx="64008" cy="82296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965960"/>
            <a:ext cx="2057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meses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18104" y="1929384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Inventário técnico, testes Core, documentação e entrevistas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" y="2807208"/>
            <a:ext cx="10808208" cy="822960"/>
          </a:xfrm>
          <a:prstGeom prst="roundRect">
            <a:avLst>
              <a:gd name="adj" fmla="val 1333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2807208"/>
            <a:ext cx="64008" cy="822960"/>
          </a:xfrm>
          <a:prstGeom prst="rect">
            <a:avLst/>
          </a:prstGeom>
          <a:solidFill>
            <a:srgbClr val="69DBB5"/>
          </a:solidFill>
          <a:ln w="12700">
            <a:solidFill>
              <a:srgbClr val="69D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971800"/>
            <a:ext cx="2057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3–6 meses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18104" y="2935224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educacional controlada e avaliação com educadores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4088" y="3813048"/>
            <a:ext cx="10808208" cy="822960"/>
          </a:xfrm>
          <a:prstGeom prst="roundRect">
            <a:avLst>
              <a:gd name="adj" fmla="val 1333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813048"/>
            <a:ext cx="64008" cy="822960"/>
          </a:xfrm>
          <a:prstGeom prst="rect">
            <a:avLst/>
          </a:prstGeom>
          <a:solidFill>
            <a:srgbClr val="FFCC83"/>
          </a:solidFill>
          <a:ln w="12700">
            <a:solidFill>
              <a:srgbClr val="FFCC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977640"/>
            <a:ext cx="2057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6–12 meses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18104" y="3941064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físico conforme viabilidade e estudo de piloto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4088" y="4818888"/>
            <a:ext cx="10808208" cy="822960"/>
          </a:xfrm>
          <a:prstGeom prst="roundRect">
            <a:avLst>
              <a:gd name="adj" fmla="val 13333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" y="4818888"/>
            <a:ext cx="64008" cy="822960"/>
          </a:xfrm>
          <a:prstGeom prst="rect">
            <a:avLst/>
          </a:prstGeom>
          <a:solidFill>
            <a:srgbClr val="FFCC83"/>
          </a:solidFill>
          <a:ln w="12700">
            <a:solidFill>
              <a:srgbClr val="FFCC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983480"/>
            <a:ext cx="2057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12–24 meses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18104" y="4946904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Reavaliar expansão comercial e novas integrações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096" y="60807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Indicadores: testes, operação offline, avaliação educacional, segurança e custo da solução.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PARCERIAS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buscamos na Incubadora Savoya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0972800" cy="16459"/>
          </a:xfrm>
          <a:prstGeom prst="rect">
            <a:avLst/>
          </a:prstGeom>
          <a:solidFill>
            <a:srgbClr val="2C4962"/>
          </a:solidFill>
          <a:ln w="12700">
            <a:solidFill>
              <a:srgbClr val="2C4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  •  INTELIGÊNCIA AO SEU 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56232"/>
            <a:ext cx="5358384" cy="3584448"/>
          </a:xfrm>
          <a:prstGeom prst="roundRect">
            <a:avLst>
              <a:gd name="adj" fmla="val 4592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56232"/>
            <a:ext cx="59436" cy="3584448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020824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APOIO ESPERADO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9536" y="2615184"/>
            <a:ext cx="496519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Mentoria de negócios e validação.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Estruturação jurídica e propriedade intelectual.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Conexões com educação e pesquisa.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Capacitação, editais e preparação comercial.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9632" y="1856232"/>
            <a:ext cx="5349240" cy="3584448"/>
          </a:xfrm>
          <a:prstGeom prst="roundRect">
            <a:avLst>
              <a:gd name="adj" fmla="val 4592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856232"/>
            <a:ext cx="59436" cy="3584448"/>
          </a:xfrm>
          <a:prstGeom prst="rect">
            <a:avLst/>
          </a:prstGeom>
          <a:solidFill>
            <a:srgbClr val="69DBB5"/>
          </a:solidFill>
          <a:ln w="12700">
            <a:solidFill>
              <a:srgbClr val="69D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020824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CONTRAPARTIDA ATLAS.IA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615184"/>
            <a:ext cx="495604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 documentada e transparente.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Participação nas atividades pertinentes.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Compartilhamento de aprendizados.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Contribuição ao ecossistema de Santo André.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25296"/>
            <a:ext cx="10515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32104" y="23317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33D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INTELIGÊNCIA AO SEU LADO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" y="3054096"/>
            <a:ext cx="1956816" cy="54864"/>
          </a:xfrm>
          <a:prstGeom prst="rect">
            <a:avLst/>
          </a:prstGeom>
          <a:solidFill>
            <a:srgbClr val="33D4ED"/>
          </a:solidFill>
          <a:ln w="12700">
            <a:solidFill>
              <a:srgbClr val="33D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419856"/>
            <a:ext cx="101498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com responsabilidade.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com evidências.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Evoluir com independência tecnológica.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" y="61173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CC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01 • Documento institucional para discussão • Outubro de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ATLAS.IA | Apresentação Institucional</dc:title>
  <dc:subject>Material 01 - Empresa, Organização e Governança</dc:subject>
  <dc:creator>ATLAS.IA</dc:creator>
  <cp:lastModifiedBy>ATLAS.IA</cp:lastModifiedBy>
  <cp:revision>1</cp:revision>
  <dcterms:created xsi:type="dcterms:W3CDTF">2026-10-10T18:19:16Z</dcterms:created>
  <dcterms:modified xsi:type="dcterms:W3CDTF">2026-10-10T18:19:16Z</dcterms:modified>
</cp:coreProperties>
</file>